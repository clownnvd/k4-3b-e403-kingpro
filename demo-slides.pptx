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E12034"/>
          </a:solidFill>
          <a:ln>
            <a:solidFill>
              <a:srgbClr val="E1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AEEF"/>
                </a:solidFill>
                <a:latin typeface="Aptos"/>
              </a:defRPr>
            </a:pPr>
            <a:r>
              <a:t>TRACK A · VLEARN TUTOR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2D5C"/>
                </a:solidFill>
                <a:latin typeface="Aptos"/>
              </a:defRPr>
            </a:pPr>
            <a:r>
              <a:t>Tutor hỏi lại trước khi trả lời câu mơ hồ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6B7E"/>
                </a:solidFill>
                <a:latin typeface="Aptos"/>
              </a:defRPr>
            </a:pPr>
            <a:r>
              <a:t>kingpro · AI20K K4 · E403/C1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2881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B2D5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6400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1E30"/>
                </a:solidFill>
                <a:latin typeface="Aptos"/>
              </a:defRPr>
            </a:pPr>
            <a:r>
              <a:t>Một học viên hỏi chưa đủ rõ → LangGraph dừng → học viên xác nhận ý định → Tutor mới trả lời.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371600"/>
            <a:ext cx="4160520" cy="3474720"/>
          </a:xfrm>
          <a:prstGeom prst="round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783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EEF"/>
                </a:solidFill>
                <a:latin typeface="Aptos"/>
              </a:defRPr>
            </a:pPr>
            <a:r>
              <a:t>MỘT VẤN ĐỀ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2267712"/>
            <a:ext cx="3246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t>Tutor đang đoán ý và trả lời trước khi biết học viên hỏi gì.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177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B2D5C"/>
                </a:solidFill>
                <a:latin typeface="Aptos"/>
              </a:defRPr>
            </a:pPr>
            <a:r>
              <a:t>Demo case: “cho tôi link” trong Bài 16 · Mini Hackathon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492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6B7E"/>
                </a:solidFill>
                <a:latin typeface="Aptos"/>
              </a:defRPr>
            </a:pPr>
            <a:r>
              <a:t>Gemini 3.5 Flash Lite · LangGraph interrupt/resume · key chỉ ở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E12034"/>
          </a:solidFill>
          <a:ln>
            <a:solidFill>
              <a:srgbClr val="E1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AEEF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2D5C"/>
                </a:solidFill>
                <a:latin typeface="Aptos"/>
              </a:defRPr>
            </a:pPr>
            <a:r>
              <a:t>Pain có bằng chứng, không phải cảm giác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6B7E"/>
                </a:solidFill>
                <a:latin typeface="Aptos"/>
              </a:defRPr>
            </a:pPr>
            <a:r>
              <a:t>kingpro · AI20K K4 · E403/C1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2881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B2D5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514600" cy="1417320"/>
          </a:xfrm>
          <a:prstGeom prst="roundRect">
            <a:avLst/>
          </a:prstGeom>
          <a:solidFill>
            <a:srgbClr val="EDF6FC"/>
          </a:solidFill>
          <a:ln>
            <a:solidFill>
              <a:srgbClr val="C3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27632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0B2D5C"/>
                </a:solidFill>
                <a:latin typeface="Aptos"/>
              </a:defRPr>
            </a:pPr>
            <a:r>
              <a:t>3.097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2402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C6B7E"/>
                </a:solidFill>
                <a:latin typeface="Aptos"/>
              </a:defRPr>
            </a:pPr>
            <a:r>
              <a:t>lượt Tutor K4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417320"/>
            <a:ext cx="2514600" cy="1417320"/>
          </a:xfrm>
          <a:prstGeom prst="roundRect">
            <a:avLst/>
          </a:prstGeom>
          <a:solidFill>
            <a:srgbClr val="EDF6FC"/>
          </a:solidFill>
          <a:ln>
            <a:solidFill>
              <a:srgbClr val="C3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627632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0B2D5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2402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C6B7E"/>
                </a:solidFill>
                <a:latin typeface="Aptos"/>
              </a:defRPr>
            </a:pPr>
            <a:r>
              <a:t>lượt hỏi probing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417320"/>
            <a:ext cx="2514600" cy="1417320"/>
          </a:xfrm>
          <a:prstGeom prst="roundRect">
            <a:avLst/>
          </a:prstGeom>
          <a:solidFill>
            <a:srgbClr val="EDF6FC"/>
          </a:solidFill>
          <a:ln>
            <a:solidFill>
              <a:srgbClr val="C3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27632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0B2D5C"/>
                </a:solidFill>
                <a:latin typeface="Aptos"/>
              </a:defRPr>
            </a:pPr>
            <a:r>
              <a:t>2/10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2402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C6B7E"/>
                </a:solidFill>
                <a:latin typeface="Aptos"/>
              </a:defRPr>
            </a:pPr>
            <a:r>
              <a:t>case live hỏi lại đúng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19" y="1417320"/>
            <a:ext cx="2514600" cy="1417320"/>
          </a:xfrm>
          <a:prstGeom prst="roundRect">
            <a:avLst/>
          </a:prstGeom>
          <a:solidFill>
            <a:srgbClr val="EDF6FC"/>
          </a:solidFill>
          <a:ln>
            <a:solidFill>
              <a:srgbClr val="C3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627632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0B2D5C"/>
                </a:solidFill>
                <a:latin typeface="Aptos"/>
              </a:defRPr>
            </a:pPr>
            <a:r>
              <a:t>8/10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54311" y="22402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C6B7E"/>
                </a:solidFill>
                <a:latin typeface="Aptos"/>
              </a:defRPr>
            </a:pPr>
            <a:r>
              <a:t>case live trả lời theo giả định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246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B2D5C"/>
                </a:solidFill>
                <a:latin typeface="Aptos"/>
              </a:defRPr>
            </a:pPr>
            <a:r>
              <a:t>Lỗi live có thể kiểm chứng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749039"/>
            <a:ext cx="10972800" cy="1325880"/>
          </a:xfrm>
          <a:prstGeom prst="roundRect">
            <a:avLst/>
          </a:prstGeom>
          <a:solidFill>
            <a:srgbClr val="FFF8E5"/>
          </a:solidFill>
          <a:ln>
            <a:solidFill>
              <a:srgbClr val="EEC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93192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41E30"/>
                </a:solidFill>
                <a:latin typeface="Aptos"/>
              </a:defRPr>
            </a:pPr>
            <a:r>
              <a:t>Fail: “cho tôi link” · “form đâu” · “repo nào” · “đáp án gì” · “cái này là gì” · “giải thích đoạn trên” · “cgi” · “giúp tôi với”. Riêng “cho tôi link” trả nhầm repo lớp 3A trên trang 3B.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B7E"/>
                </a:solidFill>
                <a:latin typeface="Aptos"/>
              </a:defRPr>
            </a:pPr>
            <a:r>
              <a:t>Nguồn: tutor_turns.csv + kiểm thử VLearn 17/09 · phương pháp tái lập nằm trong evidence/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E12034"/>
          </a:solidFill>
          <a:ln>
            <a:solidFill>
              <a:srgbClr val="E1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AEEF"/>
                </a:solidFill>
                <a:latin typeface="Aptos"/>
              </a:defRPr>
            </a:pPr>
            <a:r>
              <a:t>LANGGRAPH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2D5C"/>
                </a:solidFill>
                <a:latin typeface="Aptos"/>
              </a:defRPr>
            </a:pPr>
            <a:r>
              <a:t>Một quyết định AI, một điểm dừng có kiểm soát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6B7E"/>
                </a:solidFill>
                <a:latin typeface="Aptos"/>
              </a:defRPr>
            </a:pPr>
            <a:r>
              <a:t>kingpro · AI20K K4 · E403/C1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2881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B2D5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1572768" cy="1005840"/>
          </a:xfrm>
          <a:prstGeom prst="roundRect">
            <a:avLst/>
          </a:prstGeom>
          <a:solidFill>
            <a:srgbClr val="EDF6FC"/>
          </a:solidFill>
          <a:ln>
            <a:solidFill>
              <a:srgbClr val="0B2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13898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1203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59152"/>
            <a:ext cx="1389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2D5C"/>
                </a:solidFill>
                <a:latin typeface="Aptos"/>
              </a:defRPr>
            </a:pPr>
            <a:r>
              <a:t>Nhận câu hỏi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2219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2D5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04872" y="1874519"/>
            <a:ext cx="1572768" cy="1005840"/>
          </a:xfrm>
          <a:prstGeom prst="roundRect">
            <a:avLst/>
          </a:prstGeom>
          <a:solidFill>
            <a:srgbClr val="EDF6FC"/>
          </a:solidFill>
          <a:ln>
            <a:solidFill>
              <a:srgbClr val="0B2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96312" y="2057400"/>
            <a:ext cx="13898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1203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96312" y="2359152"/>
            <a:ext cx="1389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2D5C"/>
                </a:solidFill>
                <a:latin typeface="Aptos"/>
              </a:defRPr>
            </a:pPr>
            <a:r>
              <a:t>Phân loại độ rõ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5072" y="22219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2D5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1874519"/>
            <a:ext cx="1572768" cy="1005840"/>
          </a:xfrm>
          <a:prstGeom prst="roundRect">
            <a:avLst/>
          </a:prstGeom>
          <a:solidFill>
            <a:srgbClr val="FFF4CF"/>
          </a:solidFill>
          <a:ln>
            <a:solidFill>
              <a:srgbClr val="D3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8264" y="2057400"/>
            <a:ext cx="13898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120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8264" y="2359152"/>
            <a:ext cx="1389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2D5C"/>
                </a:solidFill>
                <a:latin typeface="Aptos"/>
              </a:defRPr>
            </a:pPr>
            <a:r>
              <a:t>interrupt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7024" y="22219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2D5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1874519"/>
            <a:ext cx="1572768" cy="1005840"/>
          </a:xfrm>
          <a:prstGeom prst="roundRect">
            <a:avLst/>
          </a:prstGeom>
          <a:solidFill>
            <a:srgbClr val="FFF4CF"/>
          </a:solidFill>
          <a:ln>
            <a:solidFill>
              <a:srgbClr val="D3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0216" y="2057400"/>
            <a:ext cx="13898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1203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2359152"/>
            <a:ext cx="1389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2D5C"/>
                </a:solidFill>
                <a:latin typeface="Aptos"/>
              </a:defRPr>
            </a:pPr>
            <a:r>
              <a:t>Người dùng chọn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08975" y="22219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2D5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0728" y="1874519"/>
            <a:ext cx="1572768" cy="1005840"/>
          </a:xfrm>
          <a:prstGeom prst="roundRect">
            <a:avLst/>
          </a:prstGeom>
          <a:solidFill>
            <a:srgbClr val="EDF6FC"/>
          </a:solidFill>
          <a:ln>
            <a:solidFill>
              <a:srgbClr val="0B2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8" y="2057400"/>
            <a:ext cx="13898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1203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2359152"/>
            <a:ext cx="1389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2D5C"/>
                </a:solidFill>
                <a:latin typeface="Aptos"/>
              </a:defRPr>
            </a:pPr>
            <a:r>
              <a:t>resume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10928" y="22219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2D5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12680" y="1874519"/>
            <a:ext cx="1572768" cy="1005840"/>
          </a:xfrm>
          <a:prstGeom prst="roundRect">
            <a:avLst/>
          </a:prstGeom>
          <a:solidFill>
            <a:srgbClr val="EDF6FC"/>
          </a:solidFill>
          <a:ln>
            <a:solidFill>
              <a:srgbClr val="0B2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04120" y="2057400"/>
            <a:ext cx="13898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12034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20" y="2359152"/>
            <a:ext cx="1389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2D5C"/>
                </a:solidFill>
                <a:latin typeface="Aptos"/>
              </a:defRPr>
            </a:pPr>
            <a:r>
              <a:t>Trả lời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337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B2D5C"/>
                </a:solidFill>
                <a:latin typeface="Aptos"/>
              </a:defRPr>
            </a:pPr>
            <a:r>
              <a:t>State giữ lại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767328"/>
            <a:ext cx="5303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41E30"/>
                </a:solidFill>
                <a:latin typeface="Aptos"/>
              </a:defRPr>
            </a:pPr>
            <a:r>
              <a:t>thread_id · lesson_id · question</a:t>
            </a:r>
            <a:br/>
            <a:r>
              <a:t>options · selected_option · trace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337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B2D5C"/>
                </a:solidFill>
                <a:latin typeface="Aptos"/>
              </a:defRPr>
            </a:pPr>
            <a:r>
              <a:t>Guard cứng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767328"/>
            <a:ext cx="5029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41E30"/>
                </a:solidFill>
                <a:latin typeface="Aptos"/>
              </a:defRPr>
            </a:pPr>
            <a:r>
              <a:t>Không sinh câu trả lời trước khi ý định được xác nhận. Tối đa hai vòng clarification.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577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B7E"/>
                </a:solidFill>
                <a:latin typeface="Aptos"/>
              </a:defRPr>
            </a:pPr>
            <a:r>
              <a:t>CP demo: LangGraph thật · một model xuyên suốt: Gemini 3.5 Flash Lite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E12034"/>
          </a:solidFill>
          <a:ln>
            <a:solidFill>
              <a:srgbClr val="E1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AEEF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2D5C"/>
                </a:solidFill>
                <a:latin typeface="Aptos"/>
              </a:defRPr>
            </a:pPr>
            <a:r>
              <a:t>Case E2E: hỏi → chọn → trả lời → bôi nguồn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6B7E"/>
                </a:solidFill>
                <a:latin typeface="Aptos"/>
              </a:defRPr>
            </a:pPr>
            <a:r>
              <a:t>kingpro · AI20K K4 · E403/C1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2881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B2D5C"/>
                </a:solidFill>
                <a:latin typeface="Aptos"/>
              </a:defRPr>
            </a:pPr>
            <a:r>
              <a:t>4</a:t>
            </a:r>
          </a:p>
        </p:txBody>
      </p:sp>
      <p:pic>
        <p:nvPicPr>
          <p:cNvPr id="7" name="Picture 6" descr="02-interru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3520440" cy="22128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749039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2D5C"/>
                </a:solidFill>
                <a:latin typeface="Aptos"/>
              </a:defRPr>
            </a:pPr>
            <a:r>
              <a:t>① interrupt</a:t>
            </a:r>
          </a:p>
        </p:txBody>
      </p:sp>
      <p:pic>
        <p:nvPicPr>
          <p:cNvPr id="9" name="Picture 8" descr="03-ans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417320"/>
            <a:ext cx="3520440" cy="22128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43400" y="3749039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2D5C"/>
                </a:solidFill>
                <a:latin typeface="Aptos"/>
              </a:defRPr>
            </a:pPr>
            <a:r>
              <a:t>② answer</a:t>
            </a:r>
          </a:p>
        </p:txBody>
      </p:sp>
      <p:pic>
        <p:nvPicPr>
          <p:cNvPr id="11" name="Picture 10" descr="04-high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1417320"/>
            <a:ext cx="3520440" cy="22128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83880" y="3749039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2D5C"/>
                </a:solidFill>
                <a:latin typeface="Aptos"/>
              </a:defRPr>
            </a:pPr>
            <a:r>
              <a:t>③ highlight 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41E30"/>
                </a:solidFill>
                <a:latin typeface="Aptos"/>
              </a:defRPr>
            </a:pPr>
            <a:r>
              <a:t>Dải “Xem nguồn trong bài” không mở thêm hộp dài. Khi bấm, VLearn cuộn tới và bôi sáng đúng block nguồn trong lesson.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32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C6B7E"/>
                </a:solidFill>
                <a:latin typeface="Aptos"/>
              </a:defRPr>
            </a:pPr>
            <a:r>
              <a:t>Trace: receive_input → classify → build_options → interrupt → resume → answer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E12034"/>
          </a:solidFill>
          <a:ln>
            <a:solidFill>
              <a:srgbClr val="E1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AEEF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2D5C"/>
                </a:solidFill>
                <a:latin typeface="Aptos"/>
              </a:defRPr>
            </a:pPr>
            <a:r>
              <a:t>Đo được trước khi nói là tốt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6B7E"/>
                </a:solidFill>
                <a:latin typeface="Aptos"/>
              </a:defRPr>
            </a:pPr>
            <a:r>
              <a:t>kingpro · AI20K K4 · E403/C1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2881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B2D5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029200" cy="3566160"/>
          </a:xfrm>
          <a:prstGeom prst="round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AEEF"/>
                </a:solidFill>
                <a:latin typeface="Aptos"/>
              </a:defRPr>
            </a:pPr>
            <a:r>
              <a:t>KẾT QUẢ LƯỢT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ptos"/>
              </a:defRPr>
            </a:pPr>
            <a:r>
              <a:t>18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632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routing accuracy = 90%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49039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Hard cases G01/G05/G07/G08: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4173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2D5C"/>
                </a:solidFill>
                <a:latin typeface="Aptos"/>
              </a:defRPr>
            </a:pPr>
            <a:r>
              <a:t>Quality bar đã chốt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9202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1E30"/>
                </a:solidFill>
                <a:latin typeface="Aptos"/>
              </a:defRPr>
            </a:pPr>
            <a:r>
              <a:t>≥90% routing accuracy</a:t>
            </a:r>
            <a:br/>
            <a:r>
              <a:t>+ 4 hard cases bắt buộc pass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971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B2D5C"/>
                </a:solidFill>
                <a:latin typeface="Aptos"/>
              </a:defRPr>
            </a:pPr>
            <a:r>
              <a:t>UI smoke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40156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41E30"/>
                </a:solidFill>
                <a:latin typeface="Aptos"/>
              </a:defRPr>
            </a:pPr>
            <a:r>
              <a:t>28/28 thao tác · desktop/tablet/mobile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251960"/>
            <a:ext cx="5120640" cy="868680"/>
          </a:xfrm>
          <a:prstGeom prst="roundRect">
            <a:avLst/>
          </a:prstGeom>
          <a:solidFill>
            <a:srgbClr val="FFF8E5"/>
          </a:solidFill>
          <a:ln>
            <a:solidFill>
              <a:srgbClr val="EEC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445312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34F00"/>
                </a:solidFill>
                <a:latin typeface="Aptos"/>
              </a:defRPr>
            </a:pPr>
            <a:r>
              <a:t>2 fail thật: “form đâu”, “link tải dữ liệu”.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577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B7E"/>
                </a:solidFill>
                <a:latin typeface="Aptos"/>
              </a:defRPr>
            </a:pPr>
            <a:r>
              <a:t>Golden set: eval/golden-set.json · Kết quả: eval/cp3-results.json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E12034"/>
          </a:solidFill>
          <a:ln>
            <a:solidFill>
              <a:srgbClr val="E1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AEEF"/>
                </a:solidFill>
                <a:latin typeface="Aptos"/>
              </a:defRPr>
            </a:pPr>
            <a:r>
              <a:t>TEAM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2D5C"/>
                </a:solidFill>
                <a:latin typeface="Aptos"/>
              </a:defRPr>
            </a:pPr>
            <a:r>
              <a:t>Sẵn sàng cho vòng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6B7E"/>
                </a:solidFill>
                <a:latin typeface="Aptos"/>
              </a:defRPr>
            </a:pPr>
            <a:r>
              <a:t>kingpro · AI20K K4 · E403/C1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2881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B2D5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5257800" cy="868680"/>
          </a:xfrm>
          <a:prstGeom prst="roundRect">
            <a:avLst/>
          </a:prstGeom>
          <a:solidFill>
            <a:srgbClr val="EDF6FC"/>
          </a:solidFill>
          <a:ln>
            <a:solidFill>
              <a:srgbClr val="C3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6362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2D5C"/>
                </a:solidFill>
                <a:latin typeface="Aptos"/>
              </a:defRPr>
            </a:pPr>
            <a:r>
              <a:t>Nguyễn Văn Duy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57276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B7E"/>
                </a:solidFill>
                <a:latin typeface="Aptos"/>
              </a:defRPr>
            </a:pPr>
            <a:r>
              <a:t>Product · LangGraph · integration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60320"/>
            <a:ext cx="5257800" cy="868680"/>
          </a:xfrm>
          <a:prstGeom prst="roundRect">
            <a:avLst/>
          </a:prstGeom>
          <a:solidFill>
            <a:srgbClr val="EDF6FC"/>
          </a:solidFill>
          <a:ln>
            <a:solidFill>
              <a:srgbClr val="C3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0662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2D5C"/>
                </a:solidFill>
                <a:latin typeface="Aptos"/>
              </a:defRPr>
            </a:pPr>
            <a:r>
              <a:t>Dương Thị Ngân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71576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B7E"/>
                </a:solidFill>
                <a:latin typeface="Aptos"/>
              </a:defRPr>
            </a:pPr>
            <a:r>
              <a:t>UX VLearn · responsive · validation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03320"/>
            <a:ext cx="5257800" cy="868680"/>
          </a:xfrm>
          <a:prstGeom prst="roundRect">
            <a:avLst/>
          </a:prstGeom>
          <a:solidFill>
            <a:srgbClr val="EDF6FC"/>
          </a:solidFill>
          <a:ln>
            <a:solidFill>
              <a:srgbClr val="C3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84962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2D5C"/>
                </a:solidFill>
                <a:latin typeface="Aptos"/>
              </a:defRPr>
            </a:pPr>
            <a:r>
              <a:t>Vũ Huy Đô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85876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B7E"/>
                </a:solidFill>
                <a:latin typeface="Aptos"/>
              </a:defRPr>
            </a:pPr>
            <a:r>
              <a:t>Evidence · golden set · video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417320"/>
            <a:ext cx="5166360" cy="3154680"/>
          </a:xfrm>
          <a:prstGeom prst="round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1783080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EEF"/>
                </a:solidFill>
                <a:latin typeface="Aptos"/>
              </a:defRPr>
            </a:pPr>
            <a:r>
              <a:t>DEMO SCRIPT · 30 GIÂY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267712"/>
            <a:ext cx="4343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1. Hỏi “cho tôi link”</a:t>
            </a:r>
            <a:br/>
            <a:r>
              <a:t>2. Chọn repo nhóm</a:t>
            </a:r>
            <a:br/>
            <a:r>
              <a:t>3. Mở nguồn</a:t>
            </a:r>
            <a:br/>
            <a:r>
              <a:t>4. Bôi block trong lesson</a:t>
            </a:r>
            <a:br/>
            <a:r>
              <a:t>5. Mở trace LangGraph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1E30"/>
                </a:solidFill>
                <a:latin typeface="Aptos"/>
              </a:defRPr>
            </a:pPr>
            <a:r>
              <a:t>Tiếp theo: cho 3 willing users dùng thử, ghi quote nguyên văn và chỉ sửa theo điểm kẹt quan sát được.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